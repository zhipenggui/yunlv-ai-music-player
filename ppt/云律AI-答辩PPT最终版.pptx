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5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0F1235"/>
          </a:solidFill>
          <a:ln w="25400">
            <a:solidFill>
              <a:srgbClr val="5B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731520"/>
            <a:ext cx="2743200" cy="2743200"/>
          </a:xfrm>
          <a:prstGeom prst="ellipse">
            <a:avLst/>
          </a:prstGeom>
          <a:solidFill>
            <a:srgbClr val="0F123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0F123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118872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kern="0" spc="600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♪  ♫  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6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项目答辩 ·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9167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7D2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一款「懂情绪」的音乐播放器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AI 理解你的心情，用数据读懂你的品味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01952" y="4315968"/>
            <a:ext cx="2578608" cy="457200"/>
          </a:xfrm>
          <a:prstGeom prst="roundRect">
            <a:avLst>
              <a:gd name="adj" fmla="val 50000"/>
            </a:avLst>
          </a:prstGeom>
          <a:solidFill>
            <a:srgbClr val="1B1F4A"/>
          </a:solidFill>
        </p:spPr>
      </p:sp>
      <p:sp>
        <p:nvSpPr>
          <p:cNvPr id="11" name="Text 9"/>
          <p:cNvSpPr/>
          <p:nvPr/>
        </p:nvSpPr>
        <p:spPr>
          <a:xfrm>
            <a:off x="1901952" y="4315968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Django 6.1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4315968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1B1F4A"/>
          </a:solidFill>
        </p:spPr>
      </p:sp>
      <p:sp>
        <p:nvSpPr>
          <p:cNvPr id="13" name="Text 11"/>
          <p:cNvSpPr/>
          <p:nvPr/>
        </p:nvSpPr>
        <p:spPr>
          <a:xfrm>
            <a:off x="4709160" y="431596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原生 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10528" y="4315968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B1F4A"/>
          </a:solidFill>
        </p:spPr>
      </p:sp>
      <p:sp>
        <p:nvSpPr>
          <p:cNvPr id="15" name="Text 13"/>
          <p:cNvSpPr/>
          <p:nvPr/>
        </p:nvSpPr>
        <p:spPr>
          <a:xfrm>
            <a:off x="6510528" y="4315968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13064" y="4315968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B1F4A"/>
          </a:solidFill>
        </p:spPr>
      </p:sp>
      <p:sp>
        <p:nvSpPr>
          <p:cNvPr id="17" name="Text 15"/>
          <p:cNvSpPr/>
          <p:nvPr/>
        </p:nvSpPr>
        <p:spPr>
          <a:xfrm>
            <a:off x="8513064" y="4315968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智谱 GLM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05556" y="4882896"/>
            <a:ext cx="1170432" cy="457200"/>
          </a:xfrm>
          <a:prstGeom prst="roundRect">
            <a:avLst>
              <a:gd name="adj" fmla="val 50000"/>
            </a:avLst>
          </a:prstGeom>
          <a:solidFill>
            <a:srgbClr val="1B1F4A"/>
          </a:solidFill>
        </p:spPr>
      </p:sp>
      <p:sp>
        <p:nvSpPr>
          <p:cNvPr id="19" name="Text 17"/>
          <p:cNvSpPr/>
          <p:nvPr/>
        </p:nvSpPr>
        <p:spPr>
          <a:xfrm>
            <a:off x="3305556" y="4882896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PWA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4588" y="4882896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1B1F4A"/>
          </a:solidFill>
        </p:spPr>
      </p:sp>
      <p:sp>
        <p:nvSpPr>
          <p:cNvPr id="21" name="Text 19"/>
          <p:cNvSpPr/>
          <p:nvPr/>
        </p:nvSpPr>
        <p:spPr>
          <a:xfrm>
            <a:off x="4704588" y="4882896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花生壳内网穿透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8292" y="4882896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1B1F4A"/>
          </a:solidFill>
        </p:spPr>
      </p:sp>
      <p:sp>
        <p:nvSpPr>
          <p:cNvPr id="23" name="Text 21"/>
          <p:cNvSpPr/>
          <p:nvPr/>
        </p:nvSpPr>
        <p:spPr>
          <a:xfrm>
            <a:off x="6908292" y="4882896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阿里云 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B9BE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答辩人：</a:t>
            </a:r>
            <a:r>
              <a:rPr lang="zh-CN" altLang="en-US" sz="1400" kern="0" spc="200" dirty="0">
                <a:solidFill>
                  <a:srgbClr val="B9BE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桂志鹏</a:t>
            </a:r>
            <a:r>
              <a:rPr lang="en-US" sz="1400" kern="0" spc="200" dirty="0">
                <a:solidFill>
                  <a:srgbClr val="B9BE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学号：20250016        班级：</a:t>
            </a:r>
            <a:r>
              <a:rPr lang="zh-CN" altLang="en-US" sz="1400" kern="0" spc="200" dirty="0">
                <a:solidFill>
                  <a:srgbClr val="B9BE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软工</a:t>
            </a:r>
            <a:r>
              <a:rPr lang="en-US" altLang="zh-CN" sz="1400" kern="0" spc="200" dirty="0">
                <a:solidFill>
                  <a:srgbClr val="B9BE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1400" kern="0" spc="200" dirty="0">
                <a:solidFill>
                  <a:srgbClr val="B9BE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</a:t>
            </a:r>
            <a:r>
              <a:rPr lang="en-US" sz="1400" kern="0" spc="200" dirty="0">
                <a:solidFill>
                  <a:srgbClr val="B9BE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4937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25880"/>
            <a:ext cx="443484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</a:t>
            </a:r>
            <a:endParaRPr lang="en-US" sz="1300" dirty="0"/>
          </a:p>
          <a:p>
            <a:pPr marL="0" indent="0">
              <a:buNone/>
            </a:pPr>
            <a:r>
              <a:rPr lang="en-US" sz="145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一款「懂情绪」的音乐播放器：告诉它你的心情，它帮你选歌；听完歌，它用数据告诉你是一个什么样的听歌人。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4937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4564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950208"/>
            <a:ext cx="109728" cy="109728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3" name="Text 11"/>
          <p:cNvSpPr/>
          <p:nvPr/>
        </p:nvSpPr>
        <p:spPr>
          <a:xfrm>
            <a:off x="1005840" y="384048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 </a:t>
            </a: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Django 6.1 · 8 大业务 App 全部置于 apps/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242816"/>
            <a:ext cx="109728" cy="109728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15" name="Text 13"/>
          <p:cNvSpPr/>
          <p:nvPr/>
        </p:nvSpPr>
        <p:spPr>
          <a:xfrm>
            <a:off x="1005840" y="4133088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 </a:t>
            </a: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原生 JS · 21+ 个模块化文件（零框架）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535424"/>
            <a:ext cx="109728" cy="109728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7" name="Text 15"/>
          <p:cNvSpPr/>
          <p:nvPr/>
        </p:nvSpPr>
        <p:spPr>
          <a:xfrm>
            <a:off x="1005840" y="4425696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  </a:t>
            </a: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+ localStorage · 统一 ListenRecord 埋点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828032"/>
            <a:ext cx="109728" cy="109728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19" name="Text 17"/>
          <p:cNvSpPr/>
          <p:nvPr/>
        </p:nvSpPr>
        <p:spPr>
          <a:xfrm>
            <a:off x="1005840" y="4718304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 </a:t>
            </a: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智谱 GLM · 情绪分析与语义理解引擎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46811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开发周期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65960" y="5468112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2026.08.28 → 09.02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23360" y="5468112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单人全栈 · 6 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143000"/>
            <a:ext cx="1783080" cy="19202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07608" y="1399032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498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007608" y="2103120"/>
            <a:ext cx="15636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首本地曲库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89320" y="24963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461 MP3 + 37 FLAC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18120" y="1143000"/>
            <a:ext cx="1783080" cy="19202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27848" y="1399032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3.08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27848" y="2103120"/>
            <a:ext cx="15636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GB 曲库容量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909560" y="24963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真实个人收藏音乐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738360" y="1143000"/>
            <a:ext cx="1783080" cy="19202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48088" y="1399032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13,522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848088" y="2103120"/>
            <a:ext cx="15636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行代码总量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829800" y="24963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Python+JS+CSS+HTML+文档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97880" y="3246120"/>
            <a:ext cx="1783080" cy="19202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07608" y="3502152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007608" y="4206240"/>
            <a:ext cx="15636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大业务模块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989320" y="459943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曲库/歌单/歌词/推荐/AI/海报/报告/大屏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18120" y="3246120"/>
            <a:ext cx="1783080" cy="19202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927848" y="3502152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7927848" y="4206240"/>
            <a:ext cx="15636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类情绪标签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909560" y="459943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贯穿点歌·打标·推荐·曲线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738360" y="3246120"/>
            <a:ext cx="1783080" cy="19202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848088" y="3502152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9848088" y="4206240"/>
            <a:ext cx="15636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项完整功能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829800" y="459943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PWA · 穿透 · OSS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功能总览 · 16 项功能一页看全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大板块 × 16 项功能：从“听懂心情”到“听懂数据”，从本地到云端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5B8C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1591056"/>
            <a:ext cx="11978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情绪智能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1993392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1371600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30552" y="155448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4" name="Text 12"/>
          <p:cNvSpPr/>
          <p:nvPr/>
        </p:nvSpPr>
        <p:spPr>
          <a:xfrm>
            <a:off x="2130552" y="1554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32888" y="149961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情绪点歌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30552" y="19019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一句话说心情 · 可多轮追问换一批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43984" y="1371600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55448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9" name="Text 17"/>
          <p:cNvSpPr/>
          <p:nvPr/>
        </p:nvSpPr>
        <p:spPr>
          <a:xfrm>
            <a:off x="4608576" y="1554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10912" y="149961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歌曲情绪打标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08576" y="19019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498 首 · 12 类情绪标签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22008" y="1371600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86600" y="155448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24" name="Text 22"/>
          <p:cNvSpPr/>
          <p:nvPr/>
        </p:nvSpPr>
        <p:spPr>
          <a:xfrm>
            <a:off x="7086600" y="1554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88936" y="149961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逐句情绪曲线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86600" y="19019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歌词级情绪波动可视化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00032" y="1371600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564624" y="155448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29" name="Text 27"/>
          <p:cNvSpPr/>
          <p:nvPr/>
        </p:nvSpPr>
        <p:spPr>
          <a:xfrm>
            <a:off x="9564624" y="1554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66960" y="149961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每日推荐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564624" y="19019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标签打分 · 可解释理由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2487168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A78BFA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928" y="2706624"/>
            <a:ext cx="11978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播放与歌单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3108960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65960" y="2487168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130552" y="2670048"/>
            <a:ext cx="310896" cy="310896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37" name="Text 35"/>
          <p:cNvSpPr/>
          <p:nvPr/>
        </p:nvSpPr>
        <p:spPr>
          <a:xfrm>
            <a:off x="2130552" y="26700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32888" y="2615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增强播放器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130552" y="3017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频谱 · 均衡 · 氛围 · 断点续播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43984" y="2487168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08576" y="2670048"/>
            <a:ext cx="310896" cy="310896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42" name="Text 40"/>
          <p:cNvSpPr/>
          <p:nvPr/>
        </p:nvSpPr>
        <p:spPr>
          <a:xfrm>
            <a:off x="4608576" y="26700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10912" y="2615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智能歌词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608576" y="3017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滚动高亮 · 在线两级兜底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22008" y="2487168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086600" y="2670048"/>
            <a:ext cx="310896" cy="310896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47" name="Text 45"/>
          <p:cNvSpPr/>
          <p:nvPr/>
        </p:nvSpPr>
        <p:spPr>
          <a:xfrm>
            <a:off x="7086600" y="26700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88936" y="2615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歌词意境海报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086600" y="3017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 生成 · PNG 下载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400032" y="2487168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564624" y="2670048"/>
            <a:ext cx="310896" cy="310896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52" name="Text 50"/>
          <p:cNvSpPr/>
          <p:nvPr/>
        </p:nvSpPr>
        <p:spPr>
          <a:xfrm>
            <a:off x="9564624" y="26700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966960" y="2615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歌单管理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9564624" y="3017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 · 拖拽排序 · 右键加歌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" y="3602736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F472B6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66928" y="3822192"/>
            <a:ext cx="11978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交互与体验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66928" y="4224528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965960" y="3602736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130552" y="3785616"/>
            <a:ext cx="310896" cy="310896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60" name="Text 58"/>
          <p:cNvSpPr/>
          <p:nvPr/>
        </p:nvSpPr>
        <p:spPr>
          <a:xfrm>
            <a:off x="2130552" y="37856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532888" y="373075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语音点歌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2130552" y="41330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 Speech 识别 · 语义解析意图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443984" y="3602736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08576" y="3785616"/>
            <a:ext cx="310896" cy="310896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65" name="Text 63"/>
          <p:cNvSpPr/>
          <p:nvPr/>
        </p:nvSpPr>
        <p:spPr>
          <a:xfrm>
            <a:off x="4608576" y="37856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010912" y="373075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收藏与最近播放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4608576" y="41330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本地记忆 · 一键回播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922008" y="3602736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086600" y="3785616"/>
            <a:ext cx="310896" cy="310896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70" name="Text 68"/>
          <p:cNvSpPr/>
          <p:nvPr/>
        </p:nvSpPr>
        <p:spPr>
          <a:xfrm>
            <a:off x="7086600" y="37856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488936" y="373075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主题换肤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7086600" y="41330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套主题 · CSS 变量驱动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400032" y="3602736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564624" y="3785616"/>
            <a:ext cx="310896" cy="310896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75" name="Text 73"/>
          <p:cNvSpPr/>
          <p:nvPr/>
        </p:nvSpPr>
        <p:spPr>
          <a:xfrm>
            <a:off x="9564624" y="37856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966960" y="373075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PWA 安装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9564624" y="41330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桌面 · 主屏 · 全屏运行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48640" y="4718304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34C77B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566928" y="4937760"/>
            <a:ext cx="11978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数据与部署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566928" y="5340096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M4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965960" y="4718304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2130552" y="4901184"/>
            <a:ext cx="310896" cy="3108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83" name="Text 81"/>
          <p:cNvSpPr/>
          <p:nvPr/>
        </p:nvSpPr>
        <p:spPr>
          <a:xfrm>
            <a:off x="2130552" y="49011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532888" y="4846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听歌报告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2130552" y="52486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总时长 · 最爱 · 情绪偏好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443984" y="4718304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4608576" y="4901184"/>
            <a:ext cx="310896" cy="3108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88" name="Text 86"/>
          <p:cNvSpPr/>
          <p:nvPr/>
        </p:nvSpPr>
        <p:spPr>
          <a:xfrm>
            <a:off x="4608576" y="49011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010912" y="4846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实时数据大屏</a:t>
            </a:r>
            <a:endParaRPr lang="en-US" sz="1250" dirty="0"/>
          </a:p>
        </p:txBody>
      </p:sp>
      <p:sp>
        <p:nvSpPr>
          <p:cNvPr id="90" name="Text 88"/>
          <p:cNvSpPr/>
          <p:nvPr/>
        </p:nvSpPr>
        <p:spPr>
          <a:xfrm>
            <a:off x="4608576" y="52486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项 KPI 实时跳动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922008" y="4718304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7086600" y="4901184"/>
            <a:ext cx="310896" cy="3108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93" name="Text 91"/>
          <p:cNvSpPr/>
          <p:nvPr/>
        </p:nvSpPr>
        <p:spPr>
          <a:xfrm>
            <a:off x="7086600" y="49011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488936" y="4846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花生壳穿透分享</a:t>
            </a:r>
            <a:endParaRPr lang="en-US" sz="1250" dirty="0"/>
          </a:p>
        </p:txBody>
      </p:sp>
      <p:sp>
        <p:nvSpPr>
          <p:cNvPr id="95" name="Text 93"/>
          <p:cNvSpPr/>
          <p:nvPr/>
        </p:nvSpPr>
        <p:spPr>
          <a:xfrm>
            <a:off x="7086600" y="52486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 · 口令保护 · 外网可用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9400032" y="4718304"/>
            <a:ext cx="23134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564624" y="4901184"/>
            <a:ext cx="310896" cy="3108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98" name="Text 96"/>
          <p:cNvSpPr/>
          <p:nvPr/>
        </p:nvSpPr>
        <p:spPr>
          <a:xfrm>
            <a:off x="9564624" y="49011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9966960" y="4846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OSS 云端加速</a:t>
            </a:r>
            <a:endParaRPr lang="en-US" sz="1250" dirty="0"/>
          </a:p>
        </p:txBody>
      </p:sp>
      <p:sp>
        <p:nvSpPr>
          <p:cNvPr id="100" name="Text 98"/>
          <p:cNvSpPr/>
          <p:nvPr/>
        </p:nvSpPr>
        <p:spPr>
          <a:xfrm>
            <a:off x="9564624" y="52486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静态资源上云 · 首屏秒开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548640" y="59253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项功能全部真机实测 · 技术分页见 P5–P12，演示路线见 P18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客户端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472184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10" name="Text 8"/>
          <p:cNvSpPr/>
          <p:nvPr/>
        </p:nvSpPr>
        <p:spPr>
          <a:xfrm>
            <a:off x="594360" y="147218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浏览器 / 手机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472184"/>
            <a:ext cx="402336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12" name="Text 10"/>
          <p:cNvSpPr/>
          <p:nvPr/>
        </p:nvSpPr>
        <p:spPr>
          <a:xfrm>
            <a:off x="2496312" y="147218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 个前端模块（player/lyrics/mood/spectrum…）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38544" y="1472184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14" name="Text 12"/>
          <p:cNvSpPr/>
          <p:nvPr/>
        </p:nvSpPr>
        <p:spPr>
          <a:xfrm>
            <a:off x="6684264" y="1472184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PWA 可安装 · 全屏运行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11226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Django 服务端 · 8 大板块 + 口令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441448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5B8CFF"/>
          </a:solidFill>
        </p:spPr>
      </p:sp>
      <p:sp>
        <p:nvSpPr>
          <p:cNvPr id="17" name="Text 15"/>
          <p:cNvSpPr/>
          <p:nvPr/>
        </p:nvSpPr>
        <p:spPr>
          <a:xfrm>
            <a:off x="594360" y="2441448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gate 口令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47672" y="2441448"/>
            <a:ext cx="1600200" cy="457200"/>
          </a:xfrm>
          <a:prstGeom prst="roundRect">
            <a:avLst>
              <a:gd name="adj" fmla="val 18000"/>
            </a:avLst>
          </a:prstGeom>
          <a:solidFill>
            <a:srgbClr val="5B8CFF"/>
          </a:solidFill>
        </p:spPr>
      </p:sp>
      <p:sp>
        <p:nvSpPr>
          <p:cNvPr id="19" name="Text 17"/>
          <p:cNvSpPr/>
          <p:nvPr/>
        </p:nvSpPr>
        <p:spPr>
          <a:xfrm>
            <a:off x="1993392" y="244144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music 曲库·播放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12464" y="2441448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5B8CFF"/>
          </a:solidFill>
        </p:spPr>
      </p:sp>
      <p:sp>
        <p:nvSpPr>
          <p:cNvPr id="21" name="Text 19"/>
          <p:cNvSpPr/>
          <p:nvPr/>
        </p:nvSpPr>
        <p:spPr>
          <a:xfrm>
            <a:off x="3758184" y="244144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playlists 歌单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0096" y="2441448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5B8CFF"/>
          </a:solidFill>
        </p:spPr>
      </p:sp>
      <p:sp>
        <p:nvSpPr>
          <p:cNvPr id="23" name="Text 21"/>
          <p:cNvSpPr/>
          <p:nvPr/>
        </p:nvSpPr>
        <p:spPr>
          <a:xfrm>
            <a:off x="5385816" y="2441448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lyrics 歌词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39128" y="2441448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5B8CFF"/>
          </a:solidFill>
        </p:spPr>
      </p:sp>
      <p:sp>
        <p:nvSpPr>
          <p:cNvPr id="25" name="Text 23"/>
          <p:cNvSpPr/>
          <p:nvPr/>
        </p:nvSpPr>
        <p:spPr>
          <a:xfrm>
            <a:off x="6784848" y="244144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recommend 推荐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66760" y="2441448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5B8CFF"/>
          </a:solidFill>
        </p:spPr>
      </p:sp>
      <p:sp>
        <p:nvSpPr>
          <p:cNvPr id="27" name="Text 25"/>
          <p:cNvSpPr/>
          <p:nvPr/>
        </p:nvSpPr>
        <p:spPr>
          <a:xfrm>
            <a:off x="8412480" y="24414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mood AI 情绪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48672" y="2441448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5B8CFF"/>
          </a:solidFill>
        </p:spPr>
      </p:sp>
      <p:sp>
        <p:nvSpPr>
          <p:cNvPr id="29" name="Text 27"/>
          <p:cNvSpPr/>
          <p:nvPr/>
        </p:nvSpPr>
        <p:spPr>
          <a:xfrm>
            <a:off x="9994392" y="244144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posters 海报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026664"/>
            <a:ext cx="1280160" cy="457200"/>
          </a:xfrm>
          <a:prstGeom prst="roundRect">
            <a:avLst>
              <a:gd name="adj" fmla="val 18000"/>
            </a:avLst>
          </a:prstGeom>
          <a:solidFill>
            <a:srgbClr val="5B8CFF"/>
          </a:solidFill>
        </p:spPr>
      </p:sp>
      <p:sp>
        <p:nvSpPr>
          <p:cNvPr id="31" name="Text 29"/>
          <p:cNvSpPr/>
          <p:nvPr/>
        </p:nvSpPr>
        <p:spPr>
          <a:xfrm>
            <a:off x="594360" y="302666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report 报告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93392" y="3026664"/>
            <a:ext cx="1508760" cy="457200"/>
          </a:xfrm>
          <a:prstGeom prst="roundRect">
            <a:avLst>
              <a:gd name="adj" fmla="val 18000"/>
            </a:avLst>
          </a:prstGeom>
          <a:solidFill>
            <a:srgbClr val="5B8CFF"/>
          </a:solidFill>
        </p:spPr>
      </p:sp>
      <p:sp>
        <p:nvSpPr>
          <p:cNvPr id="33" name="Text 31"/>
          <p:cNvSpPr/>
          <p:nvPr/>
        </p:nvSpPr>
        <p:spPr>
          <a:xfrm>
            <a:off x="2039112" y="3026664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 页面·大屏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66674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48640" y="3995928"/>
            <a:ext cx="320040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36" name="Text 34"/>
          <p:cNvSpPr/>
          <p:nvPr/>
        </p:nvSpPr>
        <p:spPr>
          <a:xfrm>
            <a:off x="594360" y="3995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SQLite：498 首歌 / 歌单 / 听歌记录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13632" y="399592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38" name="Text 36"/>
          <p:cNvSpPr/>
          <p:nvPr/>
        </p:nvSpPr>
        <p:spPr>
          <a:xfrm>
            <a:off x="3959352" y="399592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本地曲库 music_library · 3.08 GB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21424" y="3995928"/>
            <a:ext cx="265176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40" name="Text 38"/>
          <p:cNvSpPr/>
          <p:nvPr/>
        </p:nvSpPr>
        <p:spPr>
          <a:xfrm>
            <a:off x="6867144" y="3995928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localStorage：收藏 / 主题 / 断点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463600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第三方服务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48640" y="4965192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43" name="Text 41"/>
          <p:cNvSpPr/>
          <p:nvPr/>
        </p:nvSpPr>
        <p:spPr>
          <a:xfrm>
            <a:off x="594360" y="496519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智谱 GLM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901952" y="4965192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45" name="Text 43"/>
          <p:cNvSpPr/>
          <p:nvPr/>
        </p:nvSpPr>
        <p:spPr>
          <a:xfrm>
            <a:off x="1947672" y="496519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网易云 / lrclib 歌词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03904" y="4965192"/>
            <a:ext cx="192024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47" name="Text 45"/>
          <p:cNvSpPr/>
          <p:nvPr/>
        </p:nvSpPr>
        <p:spPr>
          <a:xfrm>
            <a:off x="3849624" y="49651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iTunes / SoundHelix 试听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88736" y="4965192"/>
            <a:ext cx="178308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49" name="Text 47"/>
          <p:cNvSpPr/>
          <p:nvPr/>
        </p:nvSpPr>
        <p:spPr>
          <a:xfrm>
            <a:off x="5934456" y="4965192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Jamendo 15 万+ 曲库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36408" y="4965192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51" name="Text 49"/>
          <p:cNvSpPr/>
          <p:nvPr/>
        </p:nvSpPr>
        <p:spPr>
          <a:xfrm>
            <a:off x="7882128" y="496519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 Speech 语音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464040" y="4965192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B1F4A"/>
          </a:solidFill>
        </p:spPr>
      </p:sp>
      <p:sp>
        <p:nvSpPr>
          <p:cNvPr id="53" name="Text 51"/>
          <p:cNvSpPr/>
          <p:nvPr/>
        </p:nvSpPr>
        <p:spPr>
          <a:xfrm>
            <a:off x="9509760" y="4965192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阿里云 OSS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5641848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77240" y="5742432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可插拔架构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2194560" y="5742432"/>
            <a:ext cx="9235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新增音乐源只需继承 MusicSource 抽象类 · 换 AI 模型只改 ai_service.py · 推荐算法重写 services.py 接口不变 —— 三个扩展点，其他代码零改动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核心创新 ① · AI 情绪点歌台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48920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350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五步完成一次情绪点歌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1810512"/>
            <a:ext cx="365760" cy="365760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1" name="Text 9"/>
          <p:cNvSpPr/>
          <p:nvPr/>
        </p:nvSpPr>
        <p:spPr>
          <a:xfrm>
            <a:off x="822960" y="18105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1773936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输入心情 / 语音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25880" y="207568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“今天加班好累，想听治愈纯音乐”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414016"/>
            <a:ext cx="365760" cy="365760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15" name="Text 13"/>
          <p:cNvSpPr/>
          <p:nvPr/>
        </p:nvSpPr>
        <p:spPr>
          <a:xfrm>
            <a:off x="822960" y="24140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37744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智谱 GLM 分析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25880" y="267919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语义理解 → 情绪判定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9" name="Text 17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2980944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输出结果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25880" y="328269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情绪标签 + 曲风 + 推荐说明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621024"/>
            <a:ext cx="365760" cy="365760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23" name="Text 21"/>
          <p:cNvSpPr/>
          <p:nvPr/>
        </p:nvSpPr>
        <p:spPr>
          <a:xfrm>
            <a:off x="822960" y="36210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358444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标签匹配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25880" y="38862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类情绪标签优先匹配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224528"/>
            <a:ext cx="365760" cy="365760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27" name="Text 25"/>
          <p:cNvSpPr/>
          <p:nvPr/>
        </p:nvSpPr>
        <p:spPr>
          <a:xfrm>
            <a:off x="822960" y="42245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18795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载入队列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325880" y="448970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点击即播 · 播放即埋点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5138928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31" name="Text 29"/>
          <p:cNvSpPr/>
          <p:nvPr/>
        </p:nvSpPr>
        <p:spPr>
          <a:xfrm>
            <a:off x="822960" y="5138928"/>
            <a:ext cx="14447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多轮追问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32304" y="5138928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33" name="Text 31"/>
          <p:cNvSpPr/>
          <p:nvPr/>
        </p:nvSpPr>
        <p:spPr>
          <a:xfrm>
            <a:off x="2432304" y="5138928"/>
            <a:ext cx="12435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换一批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40480" y="513892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35" name="Text 33"/>
          <p:cNvSpPr/>
          <p:nvPr/>
        </p:nvSpPr>
        <p:spPr>
          <a:xfrm>
            <a:off x="3840480" y="513892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可解释理由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" y="5596128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37" name="Text 35"/>
          <p:cNvSpPr/>
          <p:nvPr/>
        </p:nvSpPr>
        <p:spPr>
          <a:xfrm>
            <a:off x="822960" y="5596128"/>
            <a:ext cx="14447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断网降级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32304" y="5596128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39" name="Text 37"/>
          <p:cNvSpPr/>
          <p:nvPr/>
        </p:nvSpPr>
        <p:spPr>
          <a:xfrm>
            <a:off x="2432304" y="5596128"/>
            <a:ext cx="14447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语音输入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715000" y="11887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情绪点歌 · 真实运行截图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650992" y="1563624"/>
            <a:ext cx="6071616" cy="4727448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pic>
        <p:nvPicPr>
          <p:cNvPr id="42" name="Image 0" descr="F:\python学习大学\云律AI\ppt所用图片\ai情绪点歌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27632"/>
            <a:ext cx="5943600" cy="4599432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5715000" y="629107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输入情绪 → AI 判定 → 一键播放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核心创新 ② · AI 歌曲情绪分类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DE8E8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371600"/>
            <a:ext cx="365760" cy="36576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0" name="Text 8"/>
          <p:cNvSpPr/>
          <p:nvPr/>
        </p:nvSpPr>
        <p:spPr>
          <a:xfrm>
            <a:off x="777240" y="1371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18872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传统方案的痛点：498 首歌被“一刀切”统一标成 happy → 情绪点歌形同虚设、推荐失去区分度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34086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提取特征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724912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歌名 + 歌手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歌词片段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9856" y="26974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66160" y="219456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234086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逐首判定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724912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类情绪标签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写入数据库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7376" y="26974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0" y="219456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234086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结果校验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724912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 / 无歌词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关键词规则兜底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B1F4A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822192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498 / 498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611880" y="370332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全部歌曲完成 AI 情绪打标 · 标签体系贯穿“点歌 → 打标 → 推荐 → 情绪曲线”全链路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类情绪标签体系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13892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3E9FF"/>
          </a:solidFill>
        </p:spPr>
      </p:sp>
      <p:sp>
        <p:nvSpPr>
          <p:cNvPr id="28" name="Text 26"/>
          <p:cNvSpPr/>
          <p:nvPr/>
        </p:nvSpPr>
        <p:spPr>
          <a:xfrm>
            <a:off x="548640" y="513892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开心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691640" y="513892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30" name="Text 28"/>
          <p:cNvSpPr/>
          <p:nvPr/>
        </p:nvSpPr>
        <p:spPr>
          <a:xfrm>
            <a:off x="1691640" y="513892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难过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834640" y="513892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3E9FF"/>
          </a:solidFill>
        </p:spPr>
      </p:sp>
      <p:sp>
        <p:nvSpPr>
          <p:cNvPr id="32" name="Text 30"/>
          <p:cNvSpPr/>
          <p:nvPr/>
        </p:nvSpPr>
        <p:spPr>
          <a:xfrm>
            <a:off x="2834640" y="513892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977640" y="513892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34" name="Text 32"/>
          <p:cNvSpPr/>
          <p:nvPr/>
        </p:nvSpPr>
        <p:spPr>
          <a:xfrm>
            <a:off x="3977640" y="513892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充满活力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120640" y="513892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3E9FF"/>
          </a:solidFill>
        </p:spPr>
      </p:sp>
      <p:sp>
        <p:nvSpPr>
          <p:cNvPr id="36" name="Text 34"/>
          <p:cNvSpPr/>
          <p:nvPr/>
        </p:nvSpPr>
        <p:spPr>
          <a:xfrm>
            <a:off x="5120640" y="513892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平静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63640" y="513892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38" name="Text 36"/>
          <p:cNvSpPr/>
          <p:nvPr/>
        </p:nvSpPr>
        <p:spPr>
          <a:xfrm>
            <a:off x="6263640" y="513892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浪漫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68756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3E9FF"/>
          </a:solidFill>
        </p:spPr>
      </p:sp>
      <p:sp>
        <p:nvSpPr>
          <p:cNvPr id="40" name="Text 38"/>
          <p:cNvSpPr/>
          <p:nvPr/>
        </p:nvSpPr>
        <p:spPr>
          <a:xfrm>
            <a:off x="548640" y="568756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怀旧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691640" y="568756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42" name="Text 40"/>
          <p:cNvSpPr/>
          <p:nvPr/>
        </p:nvSpPr>
        <p:spPr>
          <a:xfrm>
            <a:off x="1691640" y="568756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专注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834640" y="568756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3E9FF"/>
          </a:solidFill>
        </p:spPr>
      </p:sp>
      <p:sp>
        <p:nvSpPr>
          <p:cNvPr id="44" name="Text 42"/>
          <p:cNvSpPr/>
          <p:nvPr/>
        </p:nvSpPr>
        <p:spPr>
          <a:xfrm>
            <a:off x="2834640" y="568756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疲惫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977640" y="568756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46" name="Text 44"/>
          <p:cNvSpPr/>
          <p:nvPr/>
        </p:nvSpPr>
        <p:spPr>
          <a:xfrm>
            <a:off x="3977640" y="568756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愤怒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120640" y="568756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3E9FF"/>
          </a:solidFill>
        </p:spPr>
      </p:sp>
      <p:sp>
        <p:nvSpPr>
          <p:cNvPr id="48" name="Text 46"/>
          <p:cNvSpPr/>
          <p:nvPr/>
        </p:nvSpPr>
        <p:spPr>
          <a:xfrm>
            <a:off x="5120640" y="568756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孤独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63640" y="568756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50" name="Text 48"/>
          <p:cNvSpPr/>
          <p:nvPr/>
        </p:nvSpPr>
        <p:spPr>
          <a:xfrm>
            <a:off x="6263640" y="568756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轻快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138160" y="5138928"/>
            <a:ext cx="3474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（演示曲不参与推荐，保证推荐结果质量）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播放体验 · 播放器增强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3716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5B8CFF"/>
          </a:solidFill>
        </p:spPr>
      </p:sp>
      <p:sp>
        <p:nvSpPr>
          <p:cNvPr id="10" name="Text 8"/>
          <p:cNvSpPr/>
          <p:nvPr/>
        </p:nvSpPr>
        <p:spPr>
          <a:xfrm>
            <a:off x="749808" y="1371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89888" y="140817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 频谱可视化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89888" y="1847088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底部实时跳动动画，跟随音乐节奏变化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118872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3716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A78BFA"/>
          </a:solidFill>
        </p:spPr>
      </p:sp>
      <p:sp>
        <p:nvSpPr>
          <p:cNvPr id="15" name="Text 13"/>
          <p:cNvSpPr/>
          <p:nvPr/>
        </p:nvSpPr>
        <p:spPr>
          <a:xfrm>
            <a:off x="749808" y="1371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9888" y="140817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段均衡器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9888" y="1847088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摇滚 / 流行 / 低音 / 古典预设，实时生效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0632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472B6"/>
          </a:solidFill>
        </p:spPr>
      </p:sp>
      <p:sp>
        <p:nvSpPr>
          <p:cNvPr id="20" name="Text 18"/>
          <p:cNvSpPr/>
          <p:nvPr/>
        </p:nvSpPr>
        <p:spPr>
          <a:xfrm>
            <a:off x="749808" y="3063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氛围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89888" y="309981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全屏情绪氛围背景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89888" y="3538728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随曲风变色呼吸，一键开关 + 深色遮罩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88036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30632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5B8CFF"/>
          </a:solidFill>
        </p:spPr>
      </p:sp>
      <p:sp>
        <p:nvSpPr>
          <p:cNvPr id="25" name="Text 23"/>
          <p:cNvSpPr/>
          <p:nvPr/>
        </p:nvSpPr>
        <p:spPr>
          <a:xfrm>
            <a:off x="749808" y="3063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续播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89888" y="309981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断点续播记忆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89888" y="3538728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刷新页面从上次进度继续，不丢位置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48463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更多细节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23036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Media Session 锁屏控制 · 键盘快捷键 · 定时关闭 · 三种播放模式 · 封面自动生成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11887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播放器 · 真实运行截图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91072" y="1563624"/>
            <a:ext cx="5431536" cy="4233672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pic>
        <p:nvPicPr>
          <p:cNvPr id="33" name="Image 0" descr="F:\python学习大学\云律AI\ppt所用图片\播放器界面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27632"/>
            <a:ext cx="5303520" cy="410565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355080" y="580644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频谱 / 均衡 / 氛围 / 续播 全部集成于播放器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亮点 · 实时数据大屏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344168"/>
            <a:ext cx="82296" cy="822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10" name="Text 8"/>
          <p:cNvSpPr/>
          <p:nvPr/>
        </p:nvSpPr>
        <p:spPr>
          <a:xfrm>
            <a:off x="786384" y="12527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累计播放次数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14904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实时刷新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118872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1344168"/>
            <a:ext cx="82296" cy="822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14" name="Text 12"/>
          <p:cNvSpPr/>
          <p:nvPr/>
        </p:nvSpPr>
        <p:spPr>
          <a:xfrm>
            <a:off x="2569464" y="12527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今日播放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9464" y="14904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实时刷新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0" y="118872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4528" y="1344168"/>
            <a:ext cx="82296" cy="822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18" name="Text 16"/>
          <p:cNvSpPr/>
          <p:nvPr/>
        </p:nvSpPr>
        <p:spPr>
          <a:xfrm>
            <a:off x="4352544" y="12527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 1 小时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52544" y="14904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实时刷新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97880" y="118872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07608" y="1344168"/>
            <a:ext cx="82296" cy="822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22" name="Text 20"/>
          <p:cNvSpPr/>
          <p:nvPr/>
        </p:nvSpPr>
        <p:spPr>
          <a:xfrm>
            <a:off x="6135624" y="12527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不重样歌曲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35624" y="14904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实时刷新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0" y="118872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90688" y="1344168"/>
            <a:ext cx="82296" cy="822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26" name="Text 24"/>
          <p:cNvSpPr/>
          <p:nvPr/>
        </p:nvSpPr>
        <p:spPr>
          <a:xfrm>
            <a:off x="7918704" y="12527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高频播放时段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18704" y="14904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实时刷新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64040" y="118872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573768" y="1344168"/>
            <a:ext cx="82296" cy="822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30" name="Text 28"/>
          <p:cNvSpPr/>
          <p:nvPr/>
        </p:nvSpPr>
        <p:spPr>
          <a:xfrm>
            <a:off x="9701784" y="12527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累计播放时长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01784" y="14904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实时刷新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2011680"/>
            <a:ext cx="1600200" cy="4160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1792" y="21488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实时性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1792" y="260604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 4 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自动刷新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3447288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播放即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回流大屏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1792" y="4288536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KPI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实时跳动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5129784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全屏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演示模式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104120" y="2011680"/>
            <a:ext cx="1600200" cy="4160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222992" y="21488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数据资产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22992" y="260604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ListenRecord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埋点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222992" y="3447288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张图表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联动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222992" y="4288536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 · 分布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榜单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222992" y="5129784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听歌报告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数据复用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12848" y="1901952"/>
            <a:ext cx="7772400" cy="4425696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pic>
        <p:nvPicPr>
          <p:cNvPr id="45" name="Image 0" descr="F:\python学习大学\云律AI\ppt所用图片\数据大屏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856" y="1965960"/>
            <a:ext cx="7644384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项目特色 · 花生壳内网穿透 —— 让播放器“活”在云端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48920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35024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三步实现外网分享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1" name="Text 9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87452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本地运行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221284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manage.py runserver 0.0.0.0:8000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15" name="Text 13"/>
          <p:cNvSpPr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29260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花生壳映射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326440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 HTTPS 公网地址（免费）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19" name="Text 17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97764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朋友即用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63040" y="431596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打开链接 → 输入口令 yunlv888 → 即点即播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换域名零改代码 · HTTPS+PWA 手机可装 · 口令保护 · 随时随地分享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118872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花生壳后台 · 真实映射截图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50992" y="1563624"/>
            <a:ext cx="5888736" cy="4078224"/>
          </a:xfrm>
          <a:prstGeom prst="roundRect">
            <a:avLst>
              <a:gd name="adj" fmla="val 157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pic>
        <p:nvPicPr>
          <p:cNvPr id="25" name="Image 0" descr="F:\python学习大学\云律AI\ppt所用图片\花生壳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27632"/>
            <a:ext cx="5760720" cy="39502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669280" y="562356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公网 HTTPS 地址 · 域名通配已配置 · 零成本内网穿透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59893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F1235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77240" y="60533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代码级配置（已内置 · 零改动）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11880" y="605332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ALLOWED_HOSTS=["*"] · HTTPS 代理识别 · CSRF 域名通配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项目特色 · 阿里云 OSS —— 让播放器“秒开”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48920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3502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三步把前端搬到云端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1" name="Text 9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87452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外网已通 · 但首屏慢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221284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花生壳隧道带宽有限，JS/CSS/封面全部走穿透，朋友访问要等很久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15" name="Text 13"/>
          <p:cNvSpPr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29260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OSS 接管静态资源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326440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upload_statics 一键上传：曲库封面 media/ + 前端 static/ 全量上云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19" name="Text 17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97764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云域名直连 · 秒开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63040" y="431596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 / 封面统一输出 OSS 地址，首次打开不再等隧道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504 个文件 · 51 秒 · 0 失败 · 幂等可重跑 · 一键可回滚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118872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OSS 控制台 · 真实截图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50992" y="1563624"/>
            <a:ext cx="5888736" cy="4078224"/>
          </a:xfrm>
          <a:prstGeom prst="roundRect">
            <a:avLst>
              <a:gd name="adj" fmla="val 157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pic>
        <p:nvPicPr>
          <p:cNvPr id="25" name="Image 0" descr="F:\python学习大学\云律AI\ppt所用图片\oss控制台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27632"/>
            <a:ext cx="5760720" cy="39502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669280" y="562356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对象存储 OSS · 静态资源 + 曲库媒体全部托管 · 换域名零改代码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59893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F1235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77240" y="60533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代码级配置（内置 · 可回滚）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66160" y="605332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E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manage.py upload_statics（504 文件）· Cache-Control: max-age=31536000 · CLOUD_STATIC_BASE=off 回滚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歌词生态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38988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B8CFF"/>
          </a:solidFill>
        </p:spPr>
      </p:sp>
      <p:sp>
        <p:nvSpPr>
          <p:cNvPr id="10" name="Text 8"/>
          <p:cNvSpPr/>
          <p:nvPr/>
        </p:nvSpPr>
        <p:spPr>
          <a:xfrm>
            <a:off x="731520" y="13898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滚动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426464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LRC 逐行滚动高亮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05740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歌词居中同步，当前行高亮显示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03320" y="118872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86200" y="138988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</p:spPr>
      </p:sp>
      <p:sp>
        <p:nvSpPr>
          <p:cNvPr id="15" name="Text 13"/>
          <p:cNvSpPr/>
          <p:nvPr/>
        </p:nvSpPr>
        <p:spPr>
          <a:xfrm>
            <a:off x="3886200" y="13898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兜底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1426464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在线两级兜底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04488" y="205740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网易云 → lrclib，成功后缓存 .lrc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2644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472B6"/>
          </a:solidFill>
        </p:spPr>
      </p:sp>
      <p:sp>
        <p:nvSpPr>
          <p:cNvPr id="20" name="Text 18"/>
          <p:cNvSpPr/>
          <p:nvPr/>
        </p:nvSpPr>
        <p:spPr>
          <a:xfrm>
            <a:off x="731520" y="32644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300984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多编码兼容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93192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UTF-8 / GBK / GB18030 全兼容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03320" y="306324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86200" y="32644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B8CFF"/>
          </a:solidFill>
        </p:spPr>
      </p:sp>
      <p:sp>
        <p:nvSpPr>
          <p:cNvPr id="25" name="Text 23"/>
          <p:cNvSpPr/>
          <p:nvPr/>
        </p:nvSpPr>
        <p:spPr>
          <a:xfrm>
            <a:off x="3886200" y="32644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300984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歌词意境海报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04488" y="393192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 生成意境卡片，PNG 下载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6035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19379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数据与流程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5532120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 152 份 .lrc（命中率约 30%）→ 其余由在线歌词自动兜底并缓存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12280" y="11887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逐句情绪曲线 · 真实效果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48272" y="1563624"/>
            <a:ext cx="4974336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pic>
        <p:nvPicPr>
          <p:cNvPr id="33" name="Image 0" descr="F:\python学习大学\云律AI\ppt所用图片\情绪曲线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627632"/>
            <a:ext cx="4846320" cy="2432304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812280" y="4315968"/>
            <a:ext cx="4846320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040880" y="4480560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分析歌词逐句情绪，生成波动曲线；播放时游标同步移动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7040880" y="521208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情绪标签贯穿“点歌 → 打标 → 推荐 → 情绪曲线”全链路，每首歌都有一条专属曲线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交互体验 · 语音点歌 · 主题换肤 · PWA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41732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5B8CFF"/>
          </a:solidFill>
        </p:spPr>
      </p:sp>
      <p:sp>
        <p:nvSpPr>
          <p:cNvPr id="10" name="Text 8"/>
          <p:cNvSpPr/>
          <p:nvPr/>
        </p:nvSpPr>
        <p:spPr>
          <a:xfrm>
            <a:off x="777240" y="14173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444752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语音点歌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084832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 Speech 语音识别 + 后端语义解析（歌手 / 情绪 / 曲风 / 随机四种意图）；环境嘈杂时用快捷指令 chips 兜底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18872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141732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F472B6"/>
          </a:solidFill>
        </p:spPr>
      </p:sp>
      <p:sp>
        <p:nvSpPr>
          <p:cNvPr id="15" name="Text 13"/>
          <p:cNvSpPr/>
          <p:nvPr/>
        </p:nvSpPr>
        <p:spPr>
          <a:xfrm>
            <a:off x="6583680" y="14173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PWA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60920" y="1444752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PWA 安装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084832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安装到桌面 / 手机主屏，standalone 全屏运行，全套尺寸图标，配合 HTTPS 穿透随手可得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401568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套主题换肤 · 三套实际效果（CSS 变量驱动，只改 6 个变量全站换肤，本地记忆 + 首屏无闪烁）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" y="3776472"/>
            <a:ext cx="3291840" cy="2578608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pic>
        <p:nvPicPr>
          <p:cNvPr id="20" name="Image 0" descr="F:\python学习大学\云律AI\ppt所用图片\主题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3163824" cy="245059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343400" y="3776472"/>
            <a:ext cx="3291840" cy="2578608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pic>
        <p:nvPicPr>
          <p:cNvPr id="22" name="Image 1" descr="F:\python学习大学\云律AI\ppt所用图片\主题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3840480"/>
            <a:ext cx="3163824" cy="245059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202168" y="3776472"/>
            <a:ext cx="3291840" cy="2578608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pic>
        <p:nvPicPr>
          <p:cNvPr id="24" name="Image 2" descr="F:\python学习大学\云律AI\ppt所用图片\主题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3840480"/>
            <a:ext cx="3163824" cy="24505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协作项 · 从“代码生成”到“问题共治”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07899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主案例 · 歌词情绪曲线：4 轮迭代闭环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6002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轮 · 提出需求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“逐句情绪曲线”需求 → AI 实现基础 canvas 曲线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0299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16002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轮 · 实测发现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面板展开后曲线空白 → 反馈现象 + 复现步骤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20299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16002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2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轮 · AI 定位修复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63640" y="201168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 被初始化为 0×0 → 加 0 尺寸保护 + 展开重绘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8240" y="20299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915400" y="14630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4 轮 · 验证闭环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52560" y="201168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硬刷新验证 → 曲线正常、游标随歌词移动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944368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这个案例同时覆盖两个评分维度：批判性思维（不盲从 AI 的“已修复”）+ 协作过程（4 轮有效迭代）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474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批判性思维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858768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不盲从 AI 输出：</a:t>
            </a: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曾把 498 首歌批量误标 happy → 要求改用“歌名+歌手+歌词片段”重打标 + 关键词兜底</a:t>
            </a: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多角度验证：</a:t>
            </a: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推荐被 genre=pop 污染 → 情绪优先、曲风仅补充、演示曲不参与；编码兼容均实测</a:t>
            </a: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能力边界：</a:t>
            </a: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感知不了播放体验 / 浏览器缓存 / 外网环境 → 关键链路全部由我实测把关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9632" y="33375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28232" y="3474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协作过程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28232" y="3858768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人机分工：</a:t>
            </a: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我=需求决策 / 架构设计 / 业务规则 / 验收测试；AI=代码实现 / 文档 / 多文件联动 / lint</a:t>
            </a: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可复用流程：</a:t>
            </a: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描述问题（现象+复现步骤）→ AI 检索 / 修改 → 我实际运行验证 → 通过后更新文档</a:t>
            </a:r>
            <a:r>
              <a:rPr lang="en-US" sz="10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迭代成果：</a:t>
            </a: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项关键问题全部按此模式闭环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F1235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是效率放大器，质量把关权始终在人。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协作项 · 更多迭代案例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389888"/>
            <a:ext cx="64008" cy="292608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10" name="Text 8"/>
          <p:cNvSpPr/>
          <p:nvPr/>
        </p:nvSpPr>
        <p:spPr>
          <a:xfrm>
            <a:off x="932688" y="133502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 ② · 从“跑通”到“跑快”：OSS 云加速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17007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背景：外网分享已可用，朋友却抱怨首屏加载慢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10312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3" name="Text 11"/>
          <p:cNvSpPr/>
          <p:nvPr/>
        </p:nvSpPr>
        <p:spPr>
          <a:xfrm>
            <a:off x="822960" y="21031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43584" y="2048256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实测定位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43584" y="2350008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外网可用但首屏慢 —— JS/CSS/封面全走花生壳隧道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2852928"/>
            <a:ext cx="310896" cy="310896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17" name="Text 15"/>
          <p:cNvSpPr/>
          <p:nvPr/>
        </p:nvSpPr>
        <p:spPr>
          <a:xfrm>
            <a:off x="822960" y="28529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43584" y="2798064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给方向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43584" y="3099816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建议对象存储 OSS 分发静态资源 → 先上传曲库与封面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602736"/>
            <a:ext cx="310896" cy="310896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21" name="Text 19"/>
          <p:cNvSpPr/>
          <p:nvPr/>
        </p:nvSpPr>
        <p:spPr>
          <a:xfrm>
            <a:off x="822960" y="360273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43584" y="354787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我验证找缺口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43584" y="3849624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只传 media/ 不够，前端 static/ 仍在本地 —— 主动提出前端一并上云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4352544"/>
            <a:ext cx="310896" cy="3108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25" name="Text 23"/>
          <p:cNvSpPr/>
          <p:nvPr/>
        </p:nvSpPr>
        <p:spPr>
          <a:xfrm>
            <a:off x="822960" y="43525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43584" y="429768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双端上云闭环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43584" y="4599432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static + media 全量上传、模板切云域名 → 硬刷新首屏秒开 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118872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0528" y="1389888"/>
            <a:ext cx="64008" cy="292608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30" name="Text 28"/>
          <p:cNvSpPr/>
          <p:nvPr/>
        </p:nvSpPr>
        <p:spPr>
          <a:xfrm>
            <a:off x="6693408" y="133502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 ③ · 从“一刀切”到“一歌一标”：情绪打标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93408" y="17007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背景：批量打标后推荐失去区分度，重新设计判定方案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10312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33" name="Text 31"/>
          <p:cNvSpPr/>
          <p:nvPr/>
        </p:nvSpPr>
        <p:spPr>
          <a:xfrm>
            <a:off x="6583680" y="21031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04304" y="2048256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抽查发现问题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04304" y="2350008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把 498 首歌批量统一标成 happy，情绪点歌形同虚设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83680" y="2852928"/>
            <a:ext cx="310896" cy="310896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37" name="Text 35"/>
          <p:cNvSpPr/>
          <p:nvPr/>
        </p:nvSpPr>
        <p:spPr>
          <a:xfrm>
            <a:off x="6583680" y="28529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04304" y="2798064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重构判定方案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004304" y="3099816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输入特征改为“歌名 + 歌手 + 歌词片段”，逐首独立判定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83680" y="3602736"/>
            <a:ext cx="310896" cy="310896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41" name="Text 39"/>
          <p:cNvSpPr/>
          <p:nvPr/>
        </p:nvSpPr>
        <p:spPr>
          <a:xfrm>
            <a:off x="6583680" y="360273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04304" y="354787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设计兜底规则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004304" y="3849624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无歌词 / 识别异常的歌走关键词规则，保证 100% 落标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83680" y="4352544"/>
            <a:ext cx="310896" cy="310896"/>
          </a:xfrm>
          <a:prstGeom prst="ellipse">
            <a:avLst/>
          </a:prstGeom>
          <a:solidFill>
            <a:srgbClr val="34C77B"/>
          </a:solidFill>
        </p:spPr>
      </p:sp>
      <p:sp>
        <p:nvSpPr>
          <p:cNvPr id="45" name="Text 43"/>
          <p:cNvSpPr/>
          <p:nvPr/>
        </p:nvSpPr>
        <p:spPr>
          <a:xfrm>
            <a:off x="6583680" y="43525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04304" y="429768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全量回归验收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004304" y="4599432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498 / 498 全部打标，标签贯穿点歌 → 打标 → 推荐 → 曲线 ✓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55778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F1235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两个案例同一条方法链：AI 给方案 → 我实测把关 → 发现缺口再迭代 → 全链路回归验证，验收权始终在人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1068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365"/>
            <a:ext cx="5837555" cy="2644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895" y="3291840"/>
            <a:ext cx="7101840" cy="36410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920" y="888365"/>
            <a:ext cx="6355080" cy="37376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创新点总结 · 创新不止单点炫技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 × 工程 × 方法 三个层面 · 6 大创新全链路覆盖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602736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80944" y="1563624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11" name="Text 9"/>
          <p:cNvSpPr/>
          <p:nvPr/>
        </p:nvSpPr>
        <p:spPr>
          <a:xfrm>
            <a:off x="2980944" y="1563624"/>
            <a:ext cx="9875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应用创新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50876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8096" y="211226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情绪点歌全链路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" y="2569464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心情 → AI 判定情绪 → 标签匹配即点即播 · 支持多轮追问「换一批」，交互直达播放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34256" y="1417320"/>
            <a:ext cx="3602736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563624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17" name="Text 15"/>
          <p:cNvSpPr/>
          <p:nvPr/>
        </p:nvSpPr>
        <p:spPr>
          <a:xfrm>
            <a:off x="6766560" y="1563624"/>
            <a:ext cx="9875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应用创新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35424" y="150876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53712" y="211226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词级情绪洞察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53712" y="2569464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498 首逐首打标 + 逐句情绪曲线，情绪贯穿点歌→打标→推荐→曲线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19872" y="1417320"/>
            <a:ext cx="3602736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52176" y="1563624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23" name="Text 21"/>
          <p:cNvSpPr/>
          <p:nvPr/>
        </p:nvSpPr>
        <p:spPr>
          <a:xfrm>
            <a:off x="10552176" y="1563624"/>
            <a:ext cx="9875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72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应用创新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150876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72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39328" y="211226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数据资产化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39328" y="2569464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 ListenRecord 埋点 → 大屏实时 + 听歌报告 + 情绪偏好洞察，边听边沉淀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657600"/>
            <a:ext cx="3602736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80944" y="3803904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29" name="Text 27"/>
          <p:cNvSpPr/>
          <p:nvPr/>
        </p:nvSpPr>
        <p:spPr>
          <a:xfrm>
            <a:off x="2980944" y="3803904"/>
            <a:ext cx="9875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工程创新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374904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8096" y="435254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PWA 原生级体验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8096" y="4809744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免商店安装 · standalone 全屏 · 清单图标齐备，HTTPS 穿透下随手可得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34256" y="3657600"/>
            <a:ext cx="3602736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3803904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35" name="Text 33"/>
          <p:cNvSpPr/>
          <p:nvPr/>
        </p:nvSpPr>
        <p:spPr>
          <a:xfrm>
            <a:off x="6766560" y="3803904"/>
            <a:ext cx="9875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工程创新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35424" y="374904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53712" y="435254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低成本云端交付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53712" y="4809744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花生壳内网穿透 + 阿里云 OSS 静态分发：零成本也能让朋友秒开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19872" y="3657600"/>
            <a:ext cx="3602736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552176" y="3803904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EEF1FF"/>
          </a:solidFill>
        </p:spPr>
      </p:sp>
      <p:sp>
        <p:nvSpPr>
          <p:cNvPr id="41" name="Text 39"/>
          <p:cNvSpPr/>
          <p:nvPr/>
        </p:nvSpPr>
        <p:spPr>
          <a:xfrm>
            <a:off x="10552176" y="3803904"/>
            <a:ext cx="9875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方法创新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21040" y="374904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339328" y="435254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「AI 生成 → 人机共治」范式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339328" y="4809744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项关键问题按 描述→定位→修复→验证 闭环，质量把关权始终在人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961888"/>
            <a:ext cx="11091672" cy="438912"/>
          </a:xfrm>
          <a:prstGeom prst="roundRect">
            <a:avLst>
              <a:gd name="adj" fmla="val 20833"/>
            </a:avLst>
          </a:prstGeom>
          <a:solidFill>
            <a:srgbClr val="0F1235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5961888"/>
            <a:ext cx="1109167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AI 应用到端侧体验，再到部署交付 —— 云律 AI 的创新写在每一层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项目成果与数据资产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258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大业务模块 · 全部交付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1828800"/>
            <a:ext cx="61264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96012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music 曲库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17520" y="1828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扫描入库 · 三源搜索 · 播放流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1828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249424"/>
            <a:ext cx="6126480" cy="365760"/>
          </a:xfrm>
          <a:prstGeom prst="roundRect">
            <a:avLst>
              <a:gd name="adj" fmla="val 20000"/>
            </a:avLst>
          </a:prstGeom>
          <a:solidFill>
            <a:srgbClr val="F4F5FB"/>
          </a:solidFill>
        </p:spPr>
      </p:sp>
      <p:sp>
        <p:nvSpPr>
          <p:cNvPr id="15" name="Text 13"/>
          <p:cNvSpPr/>
          <p:nvPr/>
        </p:nvSpPr>
        <p:spPr>
          <a:xfrm>
            <a:off x="960120" y="224942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playlists 歌单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17520" y="224942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 / 拖拽排序 / 右键菜单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224942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2670048"/>
            <a:ext cx="61264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960120" y="267004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lyrics 歌词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17520" y="267004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滚动高亮 · 在线兜底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267004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3090672"/>
            <a:ext cx="6126480" cy="365760"/>
          </a:xfrm>
          <a:prstGeom prst="roundRect">
            <a:avLst>
              <a:gd name="adj" fmla="val 20000"/>
            </a:avLst>
          </a:prstGeom>
          <a:solidFill>
            <a:srgbClr val="F4F5FB"/>
          </a:solidFill>
        </p:spPr>
      </p:sp>
      <p:sp>
        <p:nvSpPr>
          <p:cNvPr id="23" name="Text 21"/>
          <p:cNvSpPr/>
          <p:nvPr/>
        </p:nvSpPr>
        <p:spPr>
          <a:xfrm>
            <a:off x="960120" y="309067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recommend 推荐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17520" y="30906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标签打分 · 可解释理由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0" y="309067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3511296"/>
            <a:ext cx="61264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960120" y="351129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mood AI 情绪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017520" y="351129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点歌 · 打标 · 多轮追问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0" y="35112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" y="3931920"/>
            <a:ext cx="6126480" cy="365760"/>
          </a:xfrm>
          <a:prstGeom prst="roundRect">
            <a:avLst>
              <a:gd name="adj" fmla="val 20000"/>
            </a:avLst>
          </a:prstGeom>
          <a:solidFill>
            <a:srgbClr val="F4F5FB"/>
          </a:solidFill>
        </p:spPr>
      </p:sp>
      <p:sp>
        <p:nvSpPr>
          <p:cNvPr id="31" name="Text 29"/>
          <p:cNvSpPr/>
          <p:nvPr/>
        </p:nvSpPr>
        <p:spPr>
          <a:xfrm>
            <a:off x="960120" y="39319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posters 海报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017520" y="39319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歌词意境 · PNG 下载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39319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" y="4352544"/>
            <a:ext cx="61264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960120" y="435254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report 报告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017520" y="435254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听歌报告 · 排行榜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0" y="435254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2960" y="4773168"/>
            <a:ext cx="6126480" cy="365760"/>
          </a:xfrm>
          <a:prstGeom prst="roundRect">
            <a:avLst>
              <a:gd name="adj" fmla="val 20000"/>
            </a:avLst>
          </a:prstGeom>
          <a:solidFill>
            <a:srgbClr val="F4F5FB"/>
          </a:solidFill>
        </p:spPr>
      </p:sp>
      <p:sp>
        <p:nvSpPr>
          <p:cNvPr id="39" name="Text 37"/>
          <p:cNvSpPr/>
          <p:nvPr/>
        </p:nvSpPr>
        <p:spPr>
          <a:xfrm>
            <a:off x="960120" y="477316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 大屏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017520" y="47731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大屏 · 换肤 · PWA · 穿透+OSS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83680" y="47731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452360" y="1188720"/>
            <a:ext cx="4206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26680" y="13258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代码规模 · 合计 13,522 行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726680" y="18288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后端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464040" y="18288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4,455 行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26680" y="2176272"/>
            <a:ext cx="1569110" cy="109728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47" name="Text 45"/>
          <p:cNvSpPr/>
          <p:nvPr/>
        </p:nvSpPr>
        <p:spPr>
          <a:xfrm>
            <a:off x="7726680" y="24871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JavaScript 前端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464040" y="248716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4,840 行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26680" y="2834640"/>
            <a:ext cx="1689811" cy="109728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50" name="Text 48"/>
          <p:cNvSpPr/>
          <p:nvPr/>
        </p:nvSpPr>
        <p:spPr>
          <a:xfrm>
            <a:off x="7726680" y="3145536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CSS 样式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464040" y="3145536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2,176 行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726680" y="3493008"/>
            <a:ext cx="1267358" cy="109728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53" name="Text 51"/>
          <p:cNvSpPr/>
          <p:nvPr/>
        </p:nvSpPr>
        <p:spPr>
          <a:xfrm>
            <a:off x="7726680" y="3803904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HTML 模板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464040" y="3803904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707 行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726680" y="4151376"/>
            <a:ext cx="543154" cy="109728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56" name="Text 54"/>
          <p:cNvSpPr/>
          <p:nvPr/>
        </p:nvSpPr>
        <p:spPr>
          <a:xfrm>
            <a:off x="7726680" y="44622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项目文档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464040" y="446227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1,344 行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726680" y="4809744"/>
            <a:ext cx="754380" cy="109728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59" name="Text 57"/>
          <p:cNvSpPr/>
          <p:nvPr/>
        </p:nvSpPr>
        <p:spPr>
          <a:xfrm>
            <a:off x="7726680" y="482803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核心业务代码约 12,178 行（不含注释与空行）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22960" y="54864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C7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缺陷率：约 0.49 个 / 千行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3931920" y="548640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开发期记录并修复 6 项关键问题 · 无遗留缺陷 · 边开发边修正，即时发现、即时修复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关键技术难点与解决方案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60273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389888"/>
            <a:ext cx="402336" cy="40233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0" name="Text 8"/>
          <p:cNvSpPr/>
          <p:nvPr/>
        </p:nvSpPr>
        <p:spPr>
          <a:xfrm>
            <a:off x="749808" y="13898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18745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打标“一刀切 happy”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" y="23317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按“歌名+歌手+歌词片段”重打标 + 关键词兜底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4256" y="1188720"/>
            <a:ext cx="360273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35424" y="1389888"/>
            <a:ext cx="402336" cy="40233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5" name="Text 13"/>
          <p:cNvSpPr/>
          <p:nvPr/>
        </p:nvSpPr>
        <p:spPr>
          <a:xfrm>
            <a:off x="4535424" y="13898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18745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推荐被 genre=pop 污染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53712" y="23317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情绪标签优先 · 曲风仅补缺 · 演示曲不参与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9872" y="1188720"/>
            <a:ext cx="360273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389888"/>
            <a:ext cx="402336" cy="40233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0" name="Text 18"/>
          <p:cNvSpPr/>
          <p:nvPr/>
        </p:nvSpPr>
        <p:spPr>
          <a:xfrm>
            <a:off x="8321040" y="13898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39328" y="18745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无本地歌词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9328" y="23317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网易云 → lrclib 在线两级兜底 + 成功缓存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360273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3493008"/>
            <a:ext cx="402336" cy="40233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5" name="Text 23"/>
          <p:cNvSpPr/>
          <p:nvPr/>
        </p:nvSpPr>
        <p:spPr>
          <a:xfrm>
            <a:off x="749808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" y="39776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请求失败 / 断网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" y="443484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情绪点歌与情绪曲线内置关键词规则降级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4256" y="3291840"/>
            <a:ext cx="360273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35424" y="3493008"/>
            <a:ext cx="402336" cy="40233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30" name="Text 28"/>
          <p:cNvSpPr/>
          <p:nvPr/>
        </p:nvSpPr>
        <p:spPr>
          <a:xfrm>
            <a:off x="4535424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53712" y="39776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情绪曲线画布空白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53712" y="443484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尺寸保护 + 面板展开事件触发重绘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19872" y="3291840"/>
            <a:ext cx="360273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21040" y="3493008"/>
            <a:ext cx="402336" cy="40233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35" name="Text 33"/>
          <p:cNvSpPr/>
          <p:nvPr/>
        </p:nvSpPr>
        <p:spPr>
          <a:xfrm>
            <a:off x="8321040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39328" y="39776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刷新丢失播放进度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39328" y="443484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E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localStorage 断点续播记忆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5413248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核心方法论：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2468880" y="5413248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发现问题 → 定位根因 → 实施修复 → 回归验证，6 项问题全部闭环，无遗留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2880" cy="182880"/>
          </a:xfrm>
          <a:prstGeom prst="rect">
            <a:avLst/>
          </a:prstGeom>
          <a:solidFill>
            <a:srgbClr val="5B8CFF"/>
          </a:solidFill>
        </p:spPr>
      </p:sp>
      <p:sp>
        <p:nvSpPr>
          <p:cNvPr id="3" name="Shape 1"/>
          <p:cNvSpPr/>
          <p:nvPr/>
        </p:nvSpPr>
        <p:spPr>
          <a:xfrm>
            <a:off x="676656" y="310896"/>
            <a:ext cx="182880" cy="1828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960120" y="21945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演示路线 · 15 分钟答辩节奏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98480" y="310896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云律 AI · 项目答辩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78440" y="644652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137160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0" name="Text 8"/>
          <p:cNvSpPr/>
          <p:nvPr/>
        </p:nvSpPr>
        <p:spPr>
          <a:xfrm>
            <a:off x="676656" y="13716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35331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开场定位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17556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04872" y="123444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32888" y="137160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15" name="Text 13"/>
          <p:cNvSpPr/>
          <p:nvPr/>
        </p:nvSpPr>
        <p:spPr>
          <a:xfrm>
            <a:off x="2532888" y="13716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07792" y="135331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曲库搜索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42032" y="17556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1.5′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1104" y="123444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137160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20" name="Text 18"/>
          <p:cNvSpPr/>
          <p:nvPr/>
        </p:nvSpPr>
        <p:spPr>
          <a:xfrm>
            <a:off x="4389120" y="13716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64024" y="135331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播放器增强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98264" y="17556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7336" y="123444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45352" y="137160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25" name="Text 23"/>
          <p:cNvSpPr/>
          <p:nvPr/>
        </p:nvSpPr>
        <p:spPr>
          <a:xfrm>
            <a:off x="6245352" y="13716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0256" y="135331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歌词生态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54496" y="17556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1.5′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73568" y="123444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01584" y="137160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30" name="Text 28"/>
          <p:cNvSpPr/>
          <p:nvPr/>
        </p:nvSpPr>
        <p:spPr>
          <a:xfrm>
            <a:off x="8101584" y="13716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76488" y="135331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歌单收藏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10728" y="17556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1.5′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829800" y="123444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957816" y="137160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35" name="Text 33"/>
          <p:cNvSpPr/>
          <p:nvPr/>
        </p:nvSpPr>
        <p:spPr>
          <a:xfrm>
            <a:off x="9957816" y="13716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332720" y="135331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每日推荐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966960" y="17556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1′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256032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EEF1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" y="2697480"/>
            <a:ext cx="310896" cy="310896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40" name="Text 38"/>
          <p:cNvSpPr/>
          <p:nvPr/>
        </p:nvSpPr>
        <p:spPr>
          <a:xfrm>
            <a:off x="676656" y="2697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1560" y="26791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2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情绪点歌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5800" y="30815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3′ 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04872" y="256032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32888" y="269748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45" name="Text 43"/>
          <p:cNvSpPr/>
          <p:nvPr/>
        </p:nvSpPr>
        <p:spPr>
          <a:xfrm>
            <a:off x="2532888" y="2697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07792" y="26791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语音点歌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542032" y="30815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1′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61104" y="256032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389120" y="269748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50" name="Text 48"/>
          <p:cNvSpPr/>
          <p:nvPr/>
        </p:nvSpPr>
        <p:spPr>
          <a:xfrm>
            <a:off x="4389120" y="2697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64024" y="26791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报告·海报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398264" y="30815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1.5′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17336" y="256032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EEF1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45352" y="2697480"/>
            <a:ext cx="310896" cy="310896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55" name="Text 53"/>
          <p:cNvSpPr/>
          <p:nvPr/>
        </p:nvSpPr>
        <p:spPr>
          <a:xfrm>
            <a:off x="6245352" y="2697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620256" y="26791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2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数据大屏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254496" y="30815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3′ ★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73568" y="256032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101584" y="2697480"/>
            <a:ext cx="310896" cy="310896"/>
          </a:xfrm>
          <a:prstGeom prst="ellipse">
            <a:avLst/>
          </a:prstGeom>
          <a:solidFill>
            <a:srgbClr val="5B8CFF"/>
          </a:solidFill>
        </p:spPr>
      </p:sp>
      <p:sp>
        <p:nvSpPr>
          <p:cNvPr id="60" name="Text 58"/>
          <p:cNvSpPr/>
          <p:nvPr/>
        </p:nvSpPr>
        <p:spPr>
          <a:xfrm>
            <a:off x="8101584" y="2697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476488" y="26791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D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换肤·PWA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8110728" y="30815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1.5′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829800" y="256032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EEF1FF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957816" y="2697480"/>
            <a:ext cx="310896" cy="310896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65" name="Text 63"/>
          <p:cNvSpPr/>
          <p:nvPr/>
        </p:nvSpPr>
        <p:spPr>
          <a:xfrm>
            <a:off x="9957816" y="2697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332720" y="26791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2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花生壳+OSS 秒开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9966960" y="30815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1′ ★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48640" y="39776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为重点展示环节 · 全流程合计约 20 分钟，答辩时压缩为 14 分钟，突出 AI 情绪点歌、数据大屏与外网分享（穿透 + OSS）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48640" y="443484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0F1235"/>
          </a:solidFill>
          <a:effectLst>
            <a:outerShdw blurRad="101600" dist="25400" dir="5400000" algn="bl" rotWithShape="0">
              <a:srgbClr val="1B1F4A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48640" y="470916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别人做播放器是在放歌，我做播放器是在听懂你。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懂情绪 · 会分享 · 可扩展 —— 云律 AI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0F1235"/>
          </a:solidFill>
          <a:ln w="19050">
            <a:solidFill>
              <a:srgbClr val="5B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754880"/>
            <a:ext cx="3291840" cy="3291840"/>
          </a:xfrm>
          <a:prstGeom prst="ellipse">
            <a:avLst/>
          </a:prstGeom>
          <a:solidFill>
            <a:srgbClr val="0F123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94560"/>
            <a:ext cx="11091672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谢谢聆听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600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欢迎批评指正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600" dirty="0">
                <a:solidFill>
                  <a:srgbClr val="8B8F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 &amp; 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6162</Words>
  <Application>WPS 演示</Application>
  <PresentationFormat>On-screen Show (16:9)</PresentationFormat>
  <Paragraphs>1029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云律 AI 项目答辩</dc:title>
  <dc:creator>云律 AI</dc:creator>
  <dc:subject>PptxGenJS Presentation</dc:subject>
  <cp:lastModifiedBy>SILENCE.</cp:lastModifiedBy>
  <cp:revision>4</cp:revision>
  <dcterms:created xsi:type="dcterms:W3CDTF">2026-09-03T01:25:00Z</dcterms:created>
  <dcterms:modified xsi:type="dcterms:W3CDTF">2026-09-03T09:16:17Z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1960D710B4BF4AB18AE8E625878040FB_12</vt:lpwstr>
  </property>
</Properties>
</file>